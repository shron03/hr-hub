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1D4ED8"/>
                </a:solidFill>
              </a:defRPr>
            </a:pPr>
            <a:r>
              <a:t>PROJECT INTRODUCTION &amp;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HR Hub Enterprise - Workforce Operations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Full-stack human resource management, live talent analytics, and dynamic KPI calibration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4114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Slide 1 of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3328416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74520"/>
            <a:ext cx="2962656" cy="4297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200"/>
              </a:spcAft>
              <a:defRPr sz="1350" b="1">
                <a:solidFill>
                  <a:srgbClr val="0F172A"/>
                </a:solidFill>
              </a:defRPr>
            </a:pPr>
            <a:r>
              <a:t>Project Overview &amp; Vision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Modernizing corporate HR operations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2563EB"/>
                </a:solidFill>
              </a:rPr>
              <a:t>• Core Vision:</a:t>
            </a:r>
            <a:r>
              <a:rPr b="0" sz="1000">
                <a:solidFill>
                  <a:srgbClr val="334155"/>
                </a:solidFill>
              </a:rPr>
              <a:t> Engineered an interactive, full-stack enterprise platform consolidating workforce management, self-service portals, and operational telemetry.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2563EB"/>
                </a:solidFill>
              </a:rPr>
              <a:t>• ZOHO People Alignment:</a:t>
            </a:r>
            <a:r>
              <a:rPr b="0" sz="1000">
                <a:solidFill>
                  <a:srgbClr val="334155"/>
                </a:solidFill>
              </a:rPr>
              <a:t> Inspired by enterprise human resource management tools with role-specific views and modular self-service workflows.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2563EB"/>
                </a:solidFill>
              </a:rPr>
              <a:t>• Desktop-Optimized Experience:</a:t>
            </a:r>
            <a:r>
              <a:rPr b="0" sz="1000">
                <a:solidFill>
                  <a:srgbClr val="334155"/>
                </a:solidFill>
              </a:rPr>
              <a:t> Redesigned with a sticky top navigation header and wide responsive layout, maximizing screen efficiency without side margin waste.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2563EB"/>
                </a:solidFill>
              </a:rPr>
              <a:t>• Real-Time KPI Calibration:</a:t>
            </a:r>
            <a:r>
              <a:rPr b="0" sz="1000">
                <a:solidFill>
                  <a:srgbClr val="334155"/>
                </a:solidFill>
              </a:rPr>
              <a:t> Enables dynamic tracking of employee tasks, decimal performance reviews, and live composite score derivations.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2563EB"/>
                </a:solidFill>
              </a:rPr>
              <a:t>• Standardized Roster:</a:t>
            </a:r>
            <a:r>
              <a:rPr b="0" sz="1000">
                <a:solidFill>
                  <a:srgbClr val="334155"/>
                </a:solidFill>
              </a:rPr>
              <a:t> Pre-configured with a 15-member Indian workforce dataset, complete with reporting lines, compensation, and departmental structures.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1691640"/>
            <a:ext cx="3328416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08576" y="1874520"/>
            <a:ext cx="2962656" cy="4297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200"/>
              </a:spcAft>
              <a:defRPr sz="1350" b="1">
                <a:solidFill>
                  <a:srgbClr val="0F172A"/>
                </a:solidFill>
              </a:defRPr>
            </a:pPr>
            <a:r>
              <a:t>Problem Statement &amp; Need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Challenges in traditional HR platforms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2563EB"/>
                </a:solidFill>
              </a:rPr>
              <a:t>• Fragmented Tooling:</a:t>
            </a:r>
            <a:r>
              <a:rPr b="0" sz="1000">
                <a:solidFill>
                  <a:srgbClr val="334155"/>
                </a:solidFill>
              </a:rPr>
              <a:t> Legacy HR operations rely on disconnected spreadsheets and manual email approvals, causing operational latency and tracking errors.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2563EB"/>
                </a:solidFill>
              </a:rPr>
              <a:t>• Rigid Role Boundaries:</a:t>
            </a:r>
            <a:r>
              <a:rPr b="0" sz="1000">
                <a:solidFill>
                  <a:srgbClr val="334155"/>
                </a:solidFill>
              </a:rPr>
              <a:t> Off-the-shelf software often lacks granular Role-Based Access Control (RBAC), exposing sensitive structural data to employees.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2563EB"/>
                </a:solidFill>
              </a:rPr>
              <a:t>• Opaque Evaluation Metrics:</a:t>
            </a:r>
            <a:r>
              <a:rPr b="0" sz="1000">
                <a:solidFill>
                  <a:srgbClr val="334155"/>
                </a:solidFill>
              </a:rPr>
              <a:t> Performance grading is often calculated via hidden or static annual formulas rather than transparent, sprint-based deliverables.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2563EB"/>
                </a:solidFill>
              </a:rPr>
              <a:t>• Cluttered User Interfaces:</a:t>
            </a:r>
            <a:r>
              <a:rPr b="0" sz="1000">
                <a:solidFill>
                  <a:srgbClr val="334155"/>
                </a:solidFill>
              </a:rPr>
              <a:t> Many enterprise portals suffer from tall, scroll-heavy sidebars and wasted desktop margins, diminishing daily usability.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2563EB"/>
                </a:solidFill>
              </a:rPr>
              <a:t>• Absence of Instant Recovery:</a:t>
            </a:r>
            <a:r>
              <a:rPr b="0" sz="1000">
                <a:solidFill>
                  <a:srgbClr val="334155"/>
                </a:solidFill>
              </a:rPr>
              <a:t> Lack of standardized demonstration datasets and instant persistence resets complicates training and stakeholder evaluation.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1691640"/>
            <a:ext cx="3328416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2752" y="1874520"/>
            <a:ext cx="2962656" cy="4297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200"/>
              </a:spcAft>
              <a:defRPr sz="1350" b="1">
                <a:solidFill>
                  <a:srgbClr val="0F172A"/>
                </a:solidFill>
              </a:defRPr>
            </a:pPr>
            <a:r>
              <a:t>System Architecture &amp; Stack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Clean decoupled client-server model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2563EB"/>
                </a:solidFill>
              </a:rPr>
              <a:t>• Frontend Application:</a:t>
            </a:r>
            <a:r>
              <a:rPr b="0" sz="1000">
                <a:solidFill>
                  <a:srgbClr val="334155"/>
                </a:solidFill>
              </a:rPr>
              <a:t> Built with React 18, Vite build tool, and Tailwind CSS for a modern, responsive user experience.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2563EB"/>
                </a:solidFill>
              </a:rPr>
              <a:t>• Data Visualization:</a:t>
            </a:r>
            <a:r>
              <a:rPr b="0" sz="1000">
                <a:solidFill>
                  <a:srgbClr val="334155"/>
                </a:solidFill>
              </a:rPr>
              <a:t> Integrated Chart.js and React-Chartjs-2 for radar charts, line trends, and distribution doughnuts.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2563EB"/>
                </a:solidFill>
              </a:rPr>
              <a:t>• Backend Server &amp; API:</a:t>
            </a:r>
            <a:r>
              <a:rPr b="0" sz="1000">
                <a:solidFill>
                  <a:srgbClr val="334155"/>
                </a:solidFill>
              </a:rPr>
              <a:t> Node.js runtime and Express.js REST API with modular controllers, routes, and middleware.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2563EB"/>
                </a:solidFill>
              </a:rPr>
              <a:t>• Database Engine:</a:t>
            </a:r>
            <a:r>
              <a:rPr b="0" sz="1000">
                <a:solidFill>
                  <a:srgbClr val="334155"/>
                </a:solidFill>
              </a:rPr>
              <a:t> MongoDB with Mongoose ORM, featuring schema validation, relationships, and TTL auto-expiry indexes.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2563EB"/>
                </a:solidFill>
              </a:rPr>
              <a:t>• Enterprise RBAC:</a:t>
            </a:r>
            <a:r>
              <a:rPr b="0" sz="1000">
                <a:solidFill>
                  <a:srgbClr val="334155"/>
                </a:solidFill>
              </a:rPr>
              <a:t> Decoupled role routing for HR Director, Engineering Manager, and Employee Self-Service.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2563EB"/>
                </a:solidFill>
              </a:rPr>
              <a:t>• Data Persistence:</a:t>
            </a:r>
            <a:r>
              <a:rPr b="0" sz="1000">
                <a:solidFill>
                  <a:srgbClr val="334155"/>
                </a:solidFill>
              </a:rPr>
              <a:t> All custom records, leave states, and calibrated CTCs persist in the database across page refreshes.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1D4ED8"/>
                </a:solidFill>
              </a:defRPr>
            </a:pPr>
            <a:r>
              <a:t>WEBPAGE WORKING &amp;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Operational Workflows &amp; Core System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Comprehensive walkthrough of the platform modules, navigation flow, and functional capabilities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4114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Slide 2 of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5193792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74520"/>
            <a:ext cx="4828032" cy="1874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200"/>
              </a:spcAft>
              <a:defRPr sz="1350" b="1">
                <a:solidFill>
                  <a:srgbClr val="0F172A"/>
                </a:solidFill>
              </a:defRPr>
            </a:pPr>
            <a:r>
              <a:t>Two-Phase Access &amp; Sticky Navigation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User registration and layout hierarchy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2563EB"/>
                </a:solidFill>
              </a:rPr>
              <a:t>• Registration Approval Gateway:</a:t>
            </a:r>
            <a:r>
              <a:rPr sz="950">
                <a:solidFill>
                  <a:srgbClr val="334155"/>
                </a:solidFill>
              </a:rPr>
              <a:t> New user sign-ups are flagged as Pending and cannot log in until verified and authorized by the HR Director.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2563EB"/>
                </a:solidFill>
              </a:rPr>
              <a:t>• Sticky Top Navigation Bar:</a:t>
            </a:r>
            <a:r>
              <a:rPr sz="950">
                <a:solidFill>
                  <a:srgbClr val="334155"/>
                </a:solidFill>
              </a:rPr>
              <a:t> Horizontal menu fixed at the top of the viewport; stays locked during scroll and eliminates left-sidebar whitespace waste.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2563EB"/>
                </a:solidFill>
              </a:rPr>
              <a:t>• Active Status Display:</a:t>
            </a:r>
            <a:r>
              <a:rPr sz="950">
                <a:solidFill>
                  <a:srgbClr val="334155"/>
                </a:solidFill>
              </a:rPr>
              <a:t> Instant dropdown role switching replaced with a static status indicator; users sign out and log in to change roles.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54496" y="1691640"/>
            <a:ext cx="5193792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37376" y="1874520"/>
            <a:ext cx="4828032" cy="1874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200"/>
              </a:spcAft>
              <a:defRPr sz="1350" b="1">
                <a:solidFill>
                  <a:srgbClr val="0F172A"/>
                </a:solidFill>
              </a:defRPr>
            </a:pPr>
            <a:r>
              <a:t>Operations Cockpit &amp; Employee Directory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Executive oversight and personnel calibration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2563EB"/>
                </a:solidFill>
              </a:rPr>
              <a:t>• Executive Workforce Cockpit:</a:t>
            </a:r>
            <a:r>
              <a:rPr sz="950">
                <a:solidFill>
                  <a:srgbClr val="334155"/>
                </a:solidFill>
              </a:rPr>
              <a:t> 6-month historical attendance compliance trajectory, radar department benchmarks, and KPI tier distribution.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2563EB"/>
                </a:solidFill>
              </a:rPr>
              <a:t>• Shifted Leadership Roster:</a:t>
            </a:r>
            <a:r>
              <a:rPr sz="950">
                <a:solidFill>
                  <a:srgbClr val="334155"/>
                </a:solidFill>
              </a:rPr>
              <a:t> Top Performers Leaderboard positioned on the left column for immediate visibility.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2563EB"/>
                </a:solidFill>
              </a:rPr>
              <a:t>• Expanded HR Field Calibration:</a:t>
            </a:r>
            <a:r>
              <a:rPr sz="950">
                <a:solidFill>
                  <a:srgbClr val="334155"/>
                </a:solidFill>
              </a:rPr>
              <a:t> HR can adjust Role Title, Department Assignment, Annual CTC (INR), Status, Location, Manager, and Work Mode.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5193792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297680"/>
            <a:ext cx="4828032" cy="1874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200"/>
              </a:spcAft>
              <a:defRPr sz="1350" b="1">
                <a:solidFill>
                  <a:srgbClr val="0F172A"/>
                </a:solidFill>
              </a:defRPr>
            </a:pPr>
            <a:r>
              <a:t>Real-Time KPI Simulator &amp; Formula Abstraction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Interactive performance modeling without formulas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2563EB"/>
                </a:solidFill>
              </a:rPr>
              <a:t>• Real-Time Deliverable Sync:</a:t>
            </a:r>
            <a:r>
              <a:rPr sz="950">
                <a:solidFill>
                  <a:srgbClr val="334155"/>
                </a:solidFill>
              </a:rPr>
              <a:t> Adjusting Assigned Deliverables automatically syncs and clamps Completed Deliverables in real time.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2563EB"/>
                </a:solidFill>
              </a:rPr>
              <a:t>• Full-Range Attendance:</a:t>
            </a:r>
            <a:r>
              <a:rPr sz="950">
                <a:solidFill>
                  <a:srgbClr val="334155"/>
                </a:solidFill>
              </a:rPr>
              <a:t> Attendance compliance slider supports values from 0% to 100% with immediate index recalculation.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2563EB"/>
                </a:solidFill>
              </a:rPr>
              <a:t>• Managerial Decimal Reviews:</a:t>
            </a:r>
            <a:r>
              <a:rPr sz="950">
                <a:solidFill>
                  <a:srgbClr val="334155"/>
                </a:solidFill>
              </a:rPr>
              <a:t> Ratings on a 0.0 to 10.0 scale with 0.1 precision steps for nuanced quarterly evaluations.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2563EB"/>
                </a:solidFill>
              </a:rPr>
              <a:t>• Clean Mathematical Abstraction:</a:t>
            </a:r>
            <a:r>
              <a:rPr sz="950">
                <a:solidFill>
                  <a:srgbClr val="334155"/>
                </a:solidFill>
              </a:rPr>
              <a:t> Raw formulas are completely hidden behind clean visual progress indicators and tier grades.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54496" y="4114800"/>
            <a:ext cx="5193792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6" y="4297680"/>
            <a:ext cx="4828032" cy="1874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200"/>
              </a:spcAft>
              <a:defRPr sz="1350" b="1">
                <a:solidFill>
                  <a:srgbClr val="0F172A"/>
                </a:solidFill>
              </a:defRPr>
            </a:pPr>
            <a:r>
              <a:t>Leave Management &amp; Employee Self-Service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Time off governance and personalized views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2563EB"/>
                </a:solidFill>
              </a:rPr>
              <a:t>• Date Validation &amp; Auto-Duration:</a:t>
            </a:r>
            <a:r>
              <a:rPr sz="950">
                <a:solidFill>
                  <a:srgbClr val="334155"/>
                </a:solidFill>
              </a:rPr>
              <a:t> Selecting leave dates auto-computes total days; end date enforces start-date boundary constraints.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2563EB"/>
                </a:solidFill>
              </a:rPr>
              <a:t>• Strict HR Approval Authority:</a:t>
            </a:r>
            <a:r>
              <a:rPr sz="950">
                <a:solidFill>
                  <a:srgbClr val="334155"/>
                </a:solidFill>
              </a:rPr>
              <a:t> Only the HR Director can approve or decline leave; Engineering Managers are restricted to view-only access.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2563EB"/>
                </a:solidFill>
              </a:rPr>
              <a:t>• Tailored Employee Views:</a:t>
            </a:r>
            <a:r>
              <a:rPr sz="950">
                <a:solidFill>
                  <a:srgbClr val="334155"/>
                </a:solidFill>
              </a:rPr>
              <a:t> Organization Tree hidden from employees; replaced with Past Feedbacks, Leaves, and Department Info.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2563EB"/>
                </a:solidFill>
              </a:rPr>
              <a:t>• 3-Day Auto-Expiring Notifications:</a:t>
            </a:r>
            <a:r>
              <a:rPr sz="950">
                <a:solidFill>
                  <a:srgbClr val="334155"/>
                </a:solidFill>
              </a:rPr>
              <a:t> Slide-out drawer displaying all unread messages with a 3-day retention lifecycle.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1D4ED8"/>
                </a:solidFill>
              </a:defRPr>
            </a:pPr>
            <a:r>
              <a:t>IMPLEMENTATION &amp; TOOLING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Ideas Implemented, Engineering Innovations &amp; Tools Used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Novel architectural concepts realized in code along with the complete engineering toolkit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4114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Slide 3 of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5193792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74520"/>
            <a:ext cx="4828032" cy="4297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200"/>
              </a:spcAft>
              <a:defRPr sz="1350" b="1">
                <a:solidFill>
                  <a:srgbClr val="0F172A"/>
                </a:solidFill>
              </a:defRPr>
            </a:pPr>
            <a:r>
              <a:t>Key Ideas &amp; Innovations Implemented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Strategic concepts translated into platform features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2563EB"/>
                </a:solidFill>
              </a:rPr>
              <a:t>• Two-Phase Administrative Verification:</a:t>
            </a:r>
            <a:r>
              <a:rPr sz="950">
                <a:solidFill>
                  <a:srgbClr val="334155"/>
                </a:solidFill>
              </a:rPr>
              <a:t> Solved unverified account clutter by introducing a formal HR registration queue, preventing unapproved users from logging in until vetted.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2563EB"/>
                </a:solidFill>
              </a:rPr>
              <a:t>• Widescreen Sticky Navigation Paradigm:</a:t>
            </a:r>
            <a:r>
              <a:rPr sz="950">
                <a:solidFill>
                  <a:srgbClr val="334155"/>
                </a:solidFill>
              </a:rPr>
              <a:t> Transformed the traditional cramped sidebar into a horizontal sticky top bar, reclaiming 15% horizontal screen real estate for wide analytics panels.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2563EB"/>
                </a:solidFill>
              </a:rPr>
              <a:t>• Real-Time Numerical Input Synchronization:</a:t>
            </a:r>
            <a:r>
              <a:rPr sz="950">
                <a:solidFill>
                  <a:srgbClr val="334155"/>
                </a:solidFill>
              </a:rPr>
              <a:t> Implemented bidirectional dependency constraints between tasks assigned and tasks completed to eliminate invalid mathematical states.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2563EB"/>
                </a:solidFill>
              </a:rPr>
              <a:t>• Contextual Role Privacy Partitioning:</a:t>
            </a:r>
            <a:r>
              <a:rPr sz="950">
                <a:solidFill>
                  <a:srgbClr val="334155"/>
                </a:solidFill>
              </a:rPr>
              <a:t> Prevented unauthorized hierarchy browsing by replacing the organizational chart with employee-specific appraisal history and department mission cards.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2563EB"/>
                </a:solidFill>
              </a:rPr>
              <a:t>• Time-Bound TTL Notification Lifecycle:</a:t>
            </a:r>
            <a:r>
              <a:rPr sz="950">
                <a:solidFill>
                  <a:srgbClr val="334155"/>
                </a:solidFill>
              </a:rPr>
              <a:t> Combined MongoDB native TTL indexes (259,200 seconds) with API date filters to maintain a clean 3-day operational audit window.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2563EB"/>
                </a:solidFill>
              </a:rPr>
              <a:t>• Zero-Formula Presentation Layer:</a:t>
            </a:r>
            <a:r>
              <a:rPr sz="950">
                <a:solidFill>
                  <a:srgbClr val="334155"/>
                </a:solidFill>
              </a:rPr>
              <a:t> Abstracted complex arithmetic calculations into executive visual indicators, ensuring the interface remains clean and accessible.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2563EB"/>
                </a:solidFill>
              </a:rPr>
              <a:t>• On-Demand Demo State Reset:</a:t>
            </a:r>
            <a:r>
              <a:rPr sz="950">
                <a:solidFill>
                  <a:srgbClr val="334155"/>
                </a:solidFill>
              </a:rPr>
              <a:t> Integrated a persistent database model with a one-click Reset Demo button to restore standard Indian workforce records at any time.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54496" y="1691640"/>
            <a:ext cx="5193792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37376" y="1874520"/>
            <a:ext cx="4828032" cy="4297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200"/>
              </a:spcAft>
              <a:defRPr sz="1350" b="1">
                <a:solidFill>
                  <a:srgbClr val="0F172A"/>
                </a:solidFill>
              </a:defRPr>
            </a:pPr>
            <a:r>
              <a:t>Tools, Libraries &amp; Technologies Used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End-to-end modern web technology stack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2563EB"/>
                </a:solidFill>
              </a:rPr>
              <a:t>• React 18 &amp; Vite 8:</a:t>
            </a:r>
            <a:r>
              <a:rPr sz="950">
                <a:solidFill>
                  <a:srgbClr val="334155"/>
                </a:solidFill>
              </a:rPr>
              <a:t> Client-side component hierarchy, high-performance Virtual DOM updates, fast Hot Module Replacement, and optimized production chunking.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2563EB"/>
                </a:solidFill>
              </a:rPr>
              <a:t>• Tailwind CSS:</a:t>
            </a:r>
            <a:r>
              <a:rPr sz="950">
                <a:solidFill>
                  <a:srgbClr val="334155"/>
                </a:solidFill>
              </a:rPr>
              <a:t> Modern utility-first CSS framework enabling clean layout management, responsive grids, and frosted glassmorphic card effects.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2563EB"/>
                </a:solidFill>
              </a:rPr>
              <a:t>• Chart.js &amp; React-Chartjs-2:</a:t>
            </a:r>
            <a:r>
              <a:rPr sz="950">
                <a:solidFill>
                  <a:srgbClr val="334155"/>
                </a:solidFill>
              </a:rPr>
              <a:t> Rendered HTML5 canvas charts including radar skill benchmarks, 6-month attendance trajectory lines, and doughnut tier breakdowns.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2563EB"/>
                </a:solidFill>
              </a:rPr>
              <a:t>• Lucide React Icon Library:</a:t>
            </a:r>
            <a:r>
              <a:rPr sz="950">
                <a:solidFill>
                  <a:srgbClr val="334155"/>
                </a:solidFill>
              </a:rPr>
              <a:t> Over 25 clean, standardized enterprise icons providing visual clarity without using informal emojis.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2563EB"/>
                </a:solidFill>
              </a:rPr>
              <a:t>• Node.js &amp; Express.js:</a:t>
            </a:r>
            <a:r>
              <a:rPr sz="950">
                <a:solidFill>
                  <a:srgbClr val="334155"/>
                </a:solidFill>
              </a:rPr>
              <a:t> Asynchronous runtime and RESTful API framework handling authentication, employee records, KPI math, and leave workflows.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2563EB"/>
                </a:solidFill>
              </a:rPr>
              <a:t>• MongoDB &amp; Mongoose ODM:</a:t>
            </a:r>
            <a:r>
              <a:rPr sz="950">
                <a:solidFill>
                  <a:srgbClr val="334155"/>
                </a:solidFill>
              </a:rPr>
              <a:t> Document database utilizing structured schemas, relational lookups, and TTL index auto-deletion.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2563EB"/>
                </a:solidFill>
              </a:rPr>
              <a:t>• JSON Web Tokens (JWT):</a:t>
            </a:r>
            <a:r>
              <a:rPr sz="950">
                <a:solidFill>
                  <a:srgbClr val="334155"/>
                </a:solidFill>
              </a:rPr>
              <a:t> Secure stateless authorization tokens verifying role claims across protected routes.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2563EB"/>
                </a:solidFill>
              </a:rPr>
              <a:t>• Git &amp; GitHub:</a:t>
            </a:r>
            <a:r>
              <a:rPr sz="950">
                <a:solidFill>
                  <a:srgbClr val="334155"/>
                </a:solidFill>
              </a:rPr>
              <a:t> Version control repository with point-by-point commit history ([github.com/Shron03/HR-Hub](https://github.com/Shron03/HR-Hub)).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1D4ED8"/>
                </a:solidFill>
              </a:defRPr>
            </a:pPr>
            <a:r>
              <a:t>LEARNING OUTCOMES &amp;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Project Learning Outcomes &amp; Benchmark 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Core competencies gained throughout development alongside industry references and citations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4114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Slide 4 of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5193792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74520"/>
            <a:ext cx="4828032" cy="4297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200"/>
              </a:spcAft>
              <a:defRPr sz="1350" b="1">
                <a:solidFill>
                  <a:srgbClr val="0F172A"/>
                </a:solidFill>
              </a:defRPr>
            </a:pPr>
            <a:r>
              <a:t>Key Project Learning Outcomes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Skills and technical competencies acquired</a:t>
            </a:r>
          </a:p>
          <a:p>
            <a:pPr>
              <a:spcAft>
                <a:spcPts val="500"/>
              </a:spcAft>
            </a:pPr>
            <a:r>
              <a:rPr b="1" sz="1000">
                <a:solidFill>
                  <a:srgbClr val="2563EB"/>
                </a:solidFill>
              </a:rPr>
              <a:t>• Full-Stack Enterprise Architecture:</a:t>
            </a:r>
            <a:r>
              <a:rPr sz="950">
                <a:solidFill>
                  <a:srgbClr val="334155"/>
                </a:solidFill>
              </a:rPr>
              <a:t> Mastered end-to-end coordination between client-side UI states, Express route controllers, and MongoDB document schemas.</a:t>
            </a:r>
          </a:p>
          <a:p>
            <a:pPr>
              <a:spcAft>
                <a:spcPts val="500"/>
              </a:spcAft>
            </a:pPr>
            <a:r>
              <a:rPr b="1" sz="1000">
                <a:solidFill>
                  <a:srgbClr val="2563EB"/>
                </a:solidFill>
              </a:rPr>
              <a:t>• Role-Based Security &amp; Authorization (RBAC):</a:t>
            </a:r>
            <a:r>
              <a:rPr sz="950">
                <a:solidFill>
                  <a:srgbClr val="334155"/>
                </a:solidFill>
              </a:rPr>
              <a:t> Implemented multi-tier user privilege separation across both frontend view routers and backend API endpoints.</a:t>
            </a:r>
          </a:p>
          <a:p>
            <a:pPr>
              <a:spcAft>
                <a:spcPts val="500"/>
              </a:spcAft>
            </a:pPr>
            <a:r>
              <a:rPr b="1" sz="1000">
                <a:solidFill>
                  <a:srgbClr val="2563EB"/>
                </a:solidFill>
              </a:rPr>
              <a:t>• Responsive Layout &amp; Viewport Optimization:</a:t>
            </a:r>
            <a:r>
              <a:rPr sz="950">
                <a:solidFill>
                  <a:srgbClr val="334155"/>
                </a:solidFill>
              </a:rPr>
              <a:t> Acquired deep knowledge in widescreen layout design, replacing vertical sidebars with sticky top headers for improved ergonomics.</a:t>
            </a:r>
          </a:p>
          <a:p>
            <a:pPr>
              <a:spcAft>
                <a:spcPts val="500"/>
              </a:spcAft>
            </a:pPr>
            <a:r>
              <a:rPr b="1" sz="1000">
                <a:solidFill>
                  <a:srgbClr val="2563EB"/>
                </a:solidFill>
              </a:rPr>
              <a:t>• Real-Time KPI Calibration Systems:</a:t>
            </a:r>
            <a:r>
              <a:rPr sz="950">
                <a:solidFill>
                  <a:srgbClr val="334155"/>
                </a:solidFill>
              </a:rPr>
              <a:t> Developed interactive calculation engines synchronizing interdependent variables without performance lag.</a:t>
            </a:r>
          </a:p>
          <a:p>
            <a:pPr>
              <a:spcAft>
                <a:spcPts val="500"/>
              </a:spcAft>
            </a:pPr>
            <a:r>
              <a:rPr b="1" sz="1000">
                <a:solidFill>
                  <a:srgbClr val="2563EB"/>
                </a:solidFill>
              </a:rPr>
              <a:t>• Automated Multi-Stage Test Engineering:</a:t>
            </a:r>
            <a:r>
              <a:rPr sz="950">
                <a:solidFill>
                  <a:srgbClr val="334155"/>
                </a:solidFill>
              </a:rPr>
              <a:t> Designed and executed 5 automated test suites covering boundary math, concurrency stress tests, and authorization gates.</a:t>
            </a:r>
          </a:p>
          <a:p>
            <a:pPr>
              <a:spcAft>
                <a:spcPts val="500"/>
              </a:spcAft>
            </a:pPr>
            <a:r>
              <a:rPr b="1" sz="1000">
                <a:solidFill>
                  <a:srgbClr val="2563EB"/>
                </a:solidFill>
              </a:rPr>
              <a:t>• Enterprise UI/UX Design Standards:</a:t>
            </a:r>
            <a:r>
              <a:rPr sz="950">
                <a:solidFill>
                  <a:srgbClr val="334155"/>
                </a:solidFill>
              </a:rPr>
              <a:t> Learned to craft uncluttered, accessible user interfaces following professional corporate design principles and zero-emoji mandates.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54496" y="1691640"/>
            <a:ext cx="5193792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37376" y="1874520"/>
            <a:ext cx="4828032" cy="4297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200"/>
              </a:spcAft>
              <a:defRPr sz="1350" b="1">
                <a:solidFill>
                  <a:srgbClr val="0F172A"/>
                </a:solidFill>
              </a:defRPr>
            </a:pPr>
            <a:r>
              <a:t>References &amp; Benchmark Sources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Design inspirations, technical documentation &amp; source code</a:t>
            </a:r>
          </a:p>
          <a:p>
            <a:pPr>
              <a:spcAft>
                <a:spcPts val="500"/>
              </a:spcAft>
            </a:pPr>
            <a:r>
              <a:rPr b="1" sz="1000">
                <a:solidFill>
                  <a:srgbClr val="2563EB"/>
                </a:solidFill>
              </a:rPr>
              <a:t>• Zoho People Enterprise Portal:</a:t>
            </a:r>
            <a:r>
              <a:rPr sz="950">
                <a:solidFill>
                  <a:srgbClr val="334155"/>
                </a:solidFill>
              </a:rPr>
              <a:t> Benchmark reference for leave request authorization workflows, attendance compliance, and employee self-service modules.</a:t>
            </a:r>
          </a:p>
          <a:p>
            <a:pPr>
              <a:spcAft>
                <a:spcPts val="500"/>
              </a:spcAft>
            </a:pPr>
            <a:r>
              <a:rPr b="1" sz="1000">
                <a:solidFill>
                  <a:srgbClr val="2563EB"/>
                </a:solidFill>
              </a:rPr>
              <a:t>• Google Workspace &amp; Cloud Console:</a:t>
            </a:r>
            <a:r>
              <a:rPr sz="950">
                <a:solidFill>
                  <a:srgbClr val="334155"/>
                </a:solidFill>
              </a:rPr>
              <a:t> Visual reference for clean typography, sticky horizontal navigation bars, and uncluttered desktop data cards.</a:t>
            </a:r>
          </a:p>
          <a:p>
            <a:pPr>
              <a:spcAft>
                <a:spcPts val="500"/>
              </a:spcAft>
            </a:pPr>
            <a:r>
              <a:rPr b="1" sz="1000">
                <a:solidFill>
                  <a:srgbClr val="2563EB"/>
                </a:solidFill>
              </a:rPr>
              <a:t>• Official React.js &amp; Vite Documentation:</a:t>
            </a:r>
            <a:r>
              <a:rPr sz="950">
                <a:solidFill>
                  <a:srgbClr val="334155"/>
                </a:solidFill>
              </a:rPr>
              <a:t> Component lifecycle architecture, Virtual DOM optimization patterns, and production bundling guidelines.</a:t>
            </a:r>
          </a:p>
          <a:p>
            <a:pPr>
              <a:spcAft>
                <a:spcPts val="500"/>
              </a:spcAft>
            </a:pPr>
            <a:r>
              <a:rPr b="1" sz="1000">
                <a:solidFill>
                  <a:srgbClr val="2563EB"/>
                </a:solidFill>
              </a:rPr>
              <a:t>• Tailwind CSS Design Framework:</a:t>
            </a:r>
            <a:r>
              <a:rPr sz="950">
                <a:solidFill>
                  <a:srgbClr val="334155"/>
                </a:solidFill>
              </a:rPr>
              <a:t> Utility-first responsive design principles, color theory, and subtle glassmorphic styling techniques.</a:t>
            </a:r>
          </a:p>
          <a:p>
            <a:pPr>
              <a:spcAft>
                <a:spcPts val="500"/>
              </a:spcAft>
            </a:pPr>
            <a:r>
              <a:rPr b="1" sz="1000">
                <a:solidFill>
                  <a:srgbClr val="2563EB"/>
                </a:solidFill>
              </a:rPr>
              <a:t>• Human Resources Capstone Project Specifications:</a:t>
            </a:r>
            <a:r>
              <a:rPr sz="950">
                <a:solidFill>
                  <a:srgbClr val="334155"/>
                </a:solidFill>
              </a:rPr>
              <a:t> Capstone curriculum guidelines covering workforce metrics, leave tracking, and organizational tree hierarchies.</a:t>
            </a:r>
          </a:p>
          <a:p>
            <a:pPr>
              <a:spcAft>
                <a:spcPts val="500"/>
              </a:spcAft>
            </a:pPr>
            <a:r>
              <a:rPr b="1" sz="1000">
                <a:solidFill>
                  <a:srgbClr val="2563EB"/>
                </a:solidFill>
              </a:rPr>
              <a:t>• Project Source Code Repository:</a:t>
            </a:r>
            <a:r>
              <a:rPr sz="950">
                <a:solidFill>
                  <a:srgbClr val="334155"/>
                </a:solidFill>
              </a:rPr>
              <a:t> Public GitHub Repository maintaining full commit history, documentation, and source code:</a:t>
            </a:r>
          </a:p>
          <a:p>
            <a:pPr>
              <a:spcAft>
                <a:spcPts val="500"/>
              </a:spcAft>
            </a:pPr>
            <a:r>
              <a:rPr b="1" sz="1000">
                <a:solidFill>
                  <a:srgbClr val="2563EB"/>
                </a:solidFill>
              </a:rPr>
              <a:t>• Repository Link:</a:t>
            </a:r>
            <a:r>
              <a:rPr sz="950">
                <a:solidFill>
                  <a:srgbClr val="334155"/>
                </a:solidFill>
              </a:rPr>
              <a:t> https://github.com/Shron03/HR-Hub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