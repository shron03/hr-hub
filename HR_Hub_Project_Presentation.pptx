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D4ED8"/>
                </a:solidFill>
              </a:defRPr>
            </a:pPr>
            <a:r>
              <a:t>PROJECT INTRODUCTION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HR Hub Enterprise - Workforce Operations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Full-stack human resource management, live talent analytics, and dynamic KPI calibration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1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2962656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Project Overview &amp; Vision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Modernizing corporate HR operations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Direct Landing Experience:</a:t>
            </a:r>
            <a:r>
              <a:rPr b="0" sz="950">
                <a:solidFill>
                  <a:srgbClr val="334155"/>
                </a:solidFill>
              </a:rPr>
              <a:t> Direct entry into the executive HR Director panel on initial site visit without mandatory login roadblocks.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Enterprise Architecture:</a:t>
            </a:r>
            <a:r>
              <a:rPr b="0" sz="950">
                <a:solidFill>
                  <a:srgbClr val="334155"/>
                </a:solidFill>
              </a:rPr>
              <a:t> Built to match Zoho People and Google Workspace standards with role-specific views and modular workflows.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Widescreen Sticky Layout:</a:t>
            </a:r>
            <a:r>
              <a:rPr b="0" sz="950">
                <a:solidFill>
                  <a:srgbClr val="334155"/>
                </a:solidFill>
              </a:rPr>
              <a:t> Replaced sidebars with a sticky top navigation menu, maximizing horizontal desktop space.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Real-Time KPI Calibration:</a:t>
            </a:r>
            <a:r>
              <a:rPr b="0" sz="950">
                <a:solidFill>
                  <a:srgbClr val="334155"/>
                </a:solidFill>
              </a:rPr>
              <a:t> Dynamic deliverable tracking, decimal performance ratings (0.0-10.0), and live composite score derivations.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Indian Workforce Dataset:</a:t>
            </a:r>
            <a:r>
              <a:rPr b="0" sz="950">
                <a:solidFill>
                  <a:srgbClr val="334155"/>
                </a:solidFill>
              </a:rPr>
              <a:t> Pre-configured with a 15-member Indian corporate roster, reporting lines, compensation CTC, and departments.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9164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874520"/>
            <a:ext cx="2962656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Problem Statement &amp; Need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Challenges in traditional HR platforms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Fragmented Tooling:</a:t>
            </a:r>
            <a:r>
              <a:rPr b="0" sz="950">
                <a:solidFill>
                  <a:srgbClr val="334155"/>
                </a:solidFill>
              </a:rPr>
              <a:t> Legacy HR operations rely on disconnected spreadsheets and manual email approvals, causing operational latency.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Rigid Role Boundaries:</a:t>
            </a:r>
            <a:r>
              <a:rPr b="0" sz="950">
                <a:solidFill>
                  <a:srgbClr val="334155"/>
                </a:solidFill>
              </a:rPr>
              <a:t> Off-the-shelf software often lacks granular Role-Based Access Control (RBAC), exposing sensitive hierarchy data.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Opaque Evaluation Metrics:</a:t>
            </a:r>
            <a:r>
              <a:rPr b="0" sz="950">
                <a:solidFill>
                  <a:srgbClr val="334155"/>
                </a:solidFill>
              </a:rPr>
              <a:t> Performance grading is often calculated via hidden static annual formulas rather than transparent deliverables.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Cluttered User Interfaces:</a:t>
            </a:r>
            <a:r>
              <a:rPr b="0" sz="950">
                <a:solidFill>
                  <a:srgbClr val="334155"/>
                </a:solidFill>
              </a:rPr>
              <a:t> Enterprise portals suffer from tall, scroll-heavy sidebars and wasted desktop margins, diminishing daily usability.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• Absence of Instant Recovery:</a:t>
            </a:r>
            <a:r>
              <a:rPr b="0" sz="950">
                <a:solidFill>
                  <a:srgbClr val="334155"/>
                </a:solidFill>
              </a:rPr>
              <a:t> Lack of standardized demonstration datasets and instant persistence resets complicates stakeholder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9164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874520"/>
            <a:ext cx="2962656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System Architecture &amp; Stack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Clean decoupled client-server model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Frontend Application:</a:t>
            </a:r>
            <a:r>
              <a:rPr b="0" sz="950">
                <a:solidFill>
                  <a:srgbClr val="334155"/>
                </a:solidFill>
              </a:rPr>
              <a:t> Built with React 18, Vite 8 build tool, and Tailwind CSS for a modern, responsive user experience.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Data Visualization:</a:t>
            </a:r>
            <a:r>
              <a:rPr b="0" sz="950">
                <a:solidFill>
                  <a:srgbClr val="334155"/>
                </a:solidFill>
              </a:rPr>
              <a:t> Integrated Chart.js and React-Chartjs-2 for radar charts, line trends, and distribution doughnuts.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Backend Server &amp; API:</a:t>
            </a:r>
            <a:r>
              <a:rPr b="0" sz="950">
                <a:solidFill>
                  <a:srgbClr val="334155"/>
                </a:solidFill>
              </a:rPr>
              <a:t> Node.js runtime and Express.js REST API with modular controllers, routes, and middleware.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Database Engine:</a:t>
            </a:r>
            <a:r>
              <a:rPr b="0" sz="950">
                <a:solidFill>
                  <a:srgbClr val="334155"/>
                </a:solidFill>
              </a:rPr>
              <a:t> MongoDB with Mongoose ORM, featuring schema validation, relationships, and TTL auto-expiry indexes.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Enterprise RBAC:</a:t>
            </a:r>
            <a:r>
              <a:rPr b="0" sz="950">
                <a:solidFill>
                  <a:srgbClr val="334155"/>
                </a:solidFill>
              </a:rPr>
              <a:t> Decoupled role routing for HR Director, Engineering Manager, and Employee Self-Service.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Data Persistence:</a:t>
            </a:r>
            <a:r>
              <a:rPr b="0" sz="950">
                <a:solidFill>
                  <a:srgbClr val="334155"/>
                </a:solidFill>
              </a:rPr>
              <a:t> All custom records, leave states, and calibrated CTCs persist in the database across page refreshes.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D4ED8"/>
                </a:solidFill>
              </a:defRPr>
            </a:pPr>
            <a:r>
              <a:t>WEBPAGE WORKING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Workflows &amp; Core System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Modular architecture partitioned across HR Director, Engineering Manager, and Employee workspaces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2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937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4828032" cy="1874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HR Director: Governance &amp; Operations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7 comprehensive management modules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Organization &amp; Employee Directory:</a:t>
            </a:r>
            <a:r>
              <a:rPr sz="900">
                <a:solidFill>
                  <a:srgbClr val="334155"/>
                </a:solidFill>
              </a:rPr>
              <a:t> Unified personnel directory and 3-in-1 organizational reporting tree with granular profile editing.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Onboarding &amp; Offboarding (HR Process):</a:t>
            </a:r>
            <a:r>
              <a:rPr sz="900">
                <a:solidFill>
                  <a:srgbClr val="334155"/>
                </a:solidFill>
              </a:rPr>
              <a:t> Interactive checklist tracking for documentation, IT assets provisioning, and exit clearances.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Time &amp; Attendance Administration:</a:t>
            </a:r>
            <a:r>
              <a:rPr sz="900">
                <a:solidFill>
                  <a:srgbClr val="334155"/>
                </a:solidFill>
              </a:rPr>
              <a:t> Presence compliance monitor and leave authorization queue with start/end date constraints.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Talent Management &amp; Appraisals:</a:t>
            </a:r>
            <a:r>
              <a:rPr sz="900">
                <a:solidFill>
                  <a:srgbClr val="334155"/>
                </a:solidFill>
              </a:rPr>
              <a:t> Real-time KPI simulator, decimal reviews (0.0-10.0), 9-box talent matrix, and appraisal dispatch.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691640"/>
            <a:ext cx="51937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874520"/>
            <a:ext cx="4828032" cy="1874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HR Director: Services &amp; Intelligence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Employee relations and executive telemetry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HR Help Desk &amp; Requests:</a:t>
            </a:r>
            <a:r>
              <a:rPr sz="900">
                <a:solidFill>
                  <a:srgbClr val="334155"/>
                </a:solidFill>
              </a:rPr>
              <a:t> Triage employee support tickets (Payroll, Leave, IT, Policies) with tracked resolution notes.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Files &amp; Document Management:</a:t>
            </a:r>
            <a:r>
              <a:rPr sz="900">
                <a:solidFill>
                  <a:srgbClr val="334155"/>
                </a:solidFill>
              </a:rPr>
              <a:t> Enterprise repository for company policies, POSH handbooks, NDA templates, and tax declarations.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Analytics &amp; Reports:</a:t>
            </a:r>
            <a:r>
              <a:rPr sz="900">
                <a:solidFill>
                  <a:srgbClr val="334155"/>
                </a:solidFill>
              </a:rPr>
              <a:t> Executive operations cockpit, 6-month attendance trajectory, strategic insights, and CSV exports.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Reset Demo Capability:</a:t>
            </a:r>
            <a:r>
              <a:rPr sz="900">
                <a:solidFill>
                  <a:srgbClr val="334155"/>
                </a:solidFill>
              </a:rPr>
              <a:t> Persistent database modifications with a 1-click Reset Demo button to restore standard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1937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4828032" cy="1874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Engineering Manager: Sprint Oversight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4 dedicated managerial supervisory modules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Approval Center:</a:t>
            </a:r>
            <a:r>
              <a:rPr sz="900">
                <a:solidFill>
                  <a:srgbClr val="334155"/>
                </a:solidFill>
              </a:rPr>
              <a:t> Timesheet hour sign-offs and team leave review (monitoring presence while HR retains final approval authority).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Team Supervision:</a:t>
            </a:r>
            <a:r>
              <a:rPr sz="900">
                <a:solidFill>
                  <a:srgbClr val="334155"/>
                </a:solidFill>
              </a:rPr>
              <a:t> Dedicated engineering roster oversight, live presence monitoring (On-site, Hybrid, Remote), and task delegation.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Performance &amp; Goal Tracking:</a:t>
            </a:r>
            <a:r>
              <a:rPr sz="900">
                <a:solidFill>
                  <a:srgbClr val="334155"/>
                </a:solidFill>
              </a:rPr>
              <a:t> Team sprint velocity, overall team KPI benchmark, decimal review calibrator, and quarterly OKRs.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Time Logs &amp; Projects:</a:t>
            </a:r>
            <a:r>
              <a:rPr sz="900">
                <a:solidFill>
                  <a:srgbClr val="334155"/>
                </a:solidFill>
              </a:rPr>
              <a:t> Project deliverable boards, team hours burn-down, sprint completion rates, and blocker resolution.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4114800"/>
            <a:ext cx="51937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4297680"/>
            <a:ext cx="4828032" cy="1874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Employee Self-Service Portal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5 specialized employee self-service modules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Self Attendance &amp; Leave:</a:t>
            </a:r>
            <a:r>
              <a:rPr sz="900">
                <a:solidFill>
                  <a:srgbClr val="334155"/>
                </a:solidFill>
              </a:rPr>
              <a:t> Live punch clock-in/out simulator, leave balances (CL, SL, PL), and time-off request submission.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Time Tracking:</a:t>
            </a:r>
            <a:r>
              <a:rPr sz="900">
                <a:solidFill>
                  <a:srgbClr val="334155"/>
                </a:solidFill>
              </a:rPr>
              <a:t> Daily timesheet logger, logged hours history, and active sprint deliverables completion toggle.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Performance &amp; Self-Appraisal:</a:t>
            </a:r>
            <a:r>
              <a:rPr sz="900">
                <a:solidFill>
                  <a:srgbClr val="334155"/>
                </a:solidFill>
              </a:rPr>
              <a:t> Personal KPI scorecard, quarterly self-evaluation submitter, and official HR appraisals timeline.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Profile &amp; Payroll Documents:</a:t>
            </a:r>
            <a:r>
              <a:rPr sz="900">
                <a:solidFill>
                  <a:srgbClr val="334155"/>
                </a:solidFill>
              </a:rPr>
              <a:t> Digital employee badge, annual CTC breakdown (INR), and simulated monthly salary slip generator.</a:t>
            </a:r>
          </a:p>
          <a:p>
            <a:pPr>
              <a:spcAft>
                <a:spcPts val="250"/>
              </a:spcAft>
            </a:pPr>
            <a:r>
              <a:rPr b="1" sz="950">
                <a:solidFill>
                  <a:srgbClr val="2563EB"/>
                </a:solidFill>
              </a:rPr>
              <a:t>• HR Tickets:</a:t>
            </a:r>
            <a:r>
              <a:rPr sz="900">
                <a:solidFill>
                  <a:srgbClr val="334155"/>
                </a:solidFill>
              </a:rPr>
              <a:t> Raise confidential support inquiries to HR with live status badges (Open, In Progress, Resolved).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D4ED8"/>
                </a:solidFill>
              </a:defRPr>
            </a:pPr>
            <a:r>
              <a:t>IMPLEMENTATION &amp;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Ideas Implemented, Engineering Innovations &amp; Tools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Technical concepts realized in code along with the complete engineering toolkit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3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937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4828032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Key Ideas &amp; Innovations Implemented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Strategic concepts translated into platform features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Direct First-Time Landing:</a:t>
            </a:r>
            <a:r>
              <a:rPr sz="900">
                <a:solidFill>
                  <a:srgbClr val="334155"/>
                </a:solidFill>
              </a:rPr>
              <a:t> Automatic initialization into the HR Director dashboard on initial load, bypassing login barriers.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Two-Phase Administrative Verification:</a:t>
            </a:r>
            <a:r>
              <a:rPr sz="900">
                <a:solidFill>
                  <a:srgbClr val="334155"/>
                </a:solidFill>
              </a:rPr>
              <a:t> Formal HR registration queue preventing unapproved users from logging in until vetted.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Widescreen Sticky Navigation Paradigm:</a:t>
            </a:r>
            <a:r>
              <a:rPr sz="900">
                <a:solidFill>
                  <a:srgbClr val="334155"/>
                </a:solidFill>
              </a:rPr>
              <a:t> Transformed the traditional cramped sidebar into a horizontal sticky top bar, reclaiming 15% screen space.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Real-Time Deliverable Synchronization:</a:t>
            </a:r>
            <a:r>
              <a:rPr sz="900">
                <a:solidFill>
                  <a:srgbClr val="334155"/>
                </a:solidFill>
              </a:rPr>
              <a:t> Implemented bidirectional constraints between tasks assigned and tasks completed.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Contextual Role Privacy Partitioning:</a:t>
            </a:r>
            <a:r>
              <a:rPr sz="900">
                <a:solidFill>
                  <a:srgbClr val="334155"/>
                </a:solidFill>
              </a:rPr>
              <a:t> Prevented unauthorized hierarchy browsing by replacing the org chart with personal self-service views.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Time-Bound TTL Notification Lifecycle:</a:t>
            </a:r>
            <a:r>
              <a:rPr sz="900">
                <a:solidFill>
                  <a:srgbClr val="334155"/>
                </a:solidFill>
              </a:rPr>
              <a:t> Combined MongoDB native TTL indexes (259,200 seconds) with API date filters for a 3-day window.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Zero-Formula Presentation Layer:</a:t>
            </a:r>
            <a:r>
              <a:rPr sz="900">
                <a:solidFill>
                  <a:srgbClr val="334155"/>
                </a:solidFill>
              </a:rPr>
              <a:t> Abstracted complex arithmetic calculations into executive visual indicators.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End-to-End Database Persistence:</a:t>
            </a:r>
            <a:r>
              <a:rPr sz="900">
                <a:solidFill>
                  <a:srgbClr val="334155"/>
                </a:solidFill>
              </a:rPr>
              <a:t> Tickets, onboarding checklists, documents, and time logs persist across reloads.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691640"/>
            <a:ext cx="51937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874520"/>
            <a:ext cx="4828032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Tools, Libraries &amp; Technologies Used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End-to-end modern web technology stack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React 18 &amp; Vite 8:</a:t>
            </a:r>
            <a:r>
              <a:rPr sz="900">
                <a:solidFill>
                  <a:srgbClr val="334155"/>
                </a:solidFill>
              </a:rPr>
              <a:t> Client-side component hierarchy, high-performance Virtual DOM updates, and fast Hot Module Replacement.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Tailwind CSS:</a:t>
            </a:r>
            <a:r>
              <a:rPr sz="900">
                <a:solidFill>
                  <a:srgbClr val="334155"/>
                </a:solidFill>
              </a:rPr>
              <a:t> Modern utility-first CSS framework enabling clean layout management and frosted glassmorphic card effects.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Chart.js &amp; React-Chartjs-2:</a:t>
            </a:r>
            <a:r>
              <a:rPr sz="900">
                <a:solidFill>
                  <a:srgbClr val="334155"/>
                </a:solidFill>
              </a:rPr>
              <a:t> Rendered HTML5 canvas charts including radar skill benchmarks, 6-month attendance lines, and doughnuts.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Lucide React Icon Library:</a:t>
            </a:r>
            <a:r>
              <a:rPr sz="900">
                <a:solidFill>
                  <a:srgbClr val="334155"/>
                </a:solidFill>
              </a:rPr>
              <a:t> Over 30 standardized enterprise icons providing visual clarity without using informal emojis.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Node.js &amp; Express.js:</a:t>
            </a:r>
            <a:r>
              <a:rPr sz="900">
                <a:solidFill>
                  <a:srgbClr val="334155"/>
                </a:solidFill>
              </a:rPr>
              <a:t> Asynchronous runtime and RESTful API framework handling authentication, records, and workflows.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MongoDB &amp; Mongoose ODM:</a:t>
            </a:r>
            <a:r>
              <a:rPr sz="900">
                <a:solidFill>
                  <a:srgbClr val="334155"/>
                </a:solidFill>
              </a:rPr>
              <a:t> Document database utilizing structured schemas, relational lookups, and TTL index auto-deletion.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JSON Web Tokens (JWT):</a:t>
            </a:r>
            <a:r>
              <a:rPr sz="900">
                <a:solidFill>
                  <a:srgbClr val="334155"/>
                </a:solidFill>
              </a:rPr>
              <a:t> Secure stateless authorization tokens verifying role claims across protected routes.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2563EB"/>
                </a:solidFill>
              </a:rPr>
              <a:t>• Git &amp; GitHub:</a:t>
            </a:r>
            <a:r>
              <a:rPr sz="900">
                <a:solidFill>
                  <a:srgbClr val="334155"/>
                </a:solidFill>
              </a:rPr>
              <a:t> Version control repository maintaining point-by-point commit history ([github.com/Shron03/HR-Hub](https://github.com/Shron03/HR-Hub)).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D4ED8"/>
                </a:solidFill>
              </a:defRPr>
            </a:pPr>
            <a:r>
              <a:t>LEARNING OUTCOMES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Project Learning Outcomes &amp; Benchmark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Core competencies gained throughout development alongside industry references and citations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4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937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4828032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Key Project Learning Outcomes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Skills and technical competencies acquired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Full-Stack Enterprise Architecture:</a:t>
            </a:r>
            <a:r>
              <a:rPr sz="950">
                <a:solidFill>
                  <a:srgbClr val="334155"/>
                </a:solidFill>
              </a:rPr>
              <a:t> Mastered end-to-end coordination between client-side UI states, Express route controllers, and MongoDB schemas.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Role-Based Security &amp; Authorization (RBAC):</a:t>
            </a:r>
            <a:r>
              <a:rPr sz="950">
                <a:solidFill>
                  <a:srgbClr val="334155"/>
                </a:solidFill>
              </a:rPr>
              <a:t> Implemented multi-tier user privilege separation across both frontend views and backend API endpoints.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Responsive Layout &amp; Viewport Optimization:</a:t>
            </a:r>
            <a:r>
              <a:rPr sz="950">
                <a:solidFill>
                  <a:srgbClr val="334155"/>
                </a:solidFill>
              </a:rPr>
              <a:t> Acquired deep knowledge in widescreen layout design, replacing vertical sidebars with sticky top headers.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Real-Time KPI Calibration Systems:</a:t>
            </a:r>
            <a:r>
              <a:rPr sz="950">
                <a:solidFill>
                  <a:srgbClr val="334155"/>
                </a:solidFill>
              </a:rPr>
              <a:t> Developed interactive calculation engines synchronizing interdependent variables without performance lag.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Automated Multi-Stage Test Engineering:</a:t>
            </a:r>
            <a:r>
              <a:rPr sz="950">
                <a:solidFill>
                  <a:srgbClr val="334155"/>
                </a:solidFill>
              </a:rPr>
              <a:t> Designed and executed 6 automated test suites covering boundary math, concurrency, and authorization gates.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Enterprise UI/UX Design Standards:</a:t>
            </a:r>
            <a:r>
              <a:rPr sz="950">
                <a:solidFill>
                  <a:srgbClr val="334155"/>
                </a:solidFill>
              </a:rPr>
              <a:t> Crafted an uncluttered, accessible user interface following professional corporate design principles.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691640"/>
            <a:ext cx="51937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874520"/>
            <a:ext cx="4828032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</a:defRPr>
            </a:pPr>
            <a:r>
              <a:t>References &amp; Benchmark Sources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Design inspirations, technical documentation &amp; source code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Zoho People Enterprise Portal:</a:t>
            </a:r>
            <a:r>
              <a:rPr sz="950">
                <a:solidFill>
                  <a:srgbClr val="334155"/>
                </a:solidFill>
              </a:rPr>
              <a:t> Benchmark reference for leave request authorization workflows, attendance compliance, and employee self-service modules.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Google Workspace &amp; Cloud Console:</a:t>
            </a:r>
            <a:r>
              <a:rPr sz="950">
                <a:solidFill>
                  <a:srgbClr val="334155"/>
                </a:solidFill>
              </a:rPr>
              <a:t> Visual reference for clean typography, sticky horizontal navigation bars, and uncluttered desktop data cards.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Official React.js &amp; Vite Documentation:</a:t>
            </a:r>
            <a:r>
              <a:rPr sz="950">
                <a:solidFill>
                  <a:srgbClr val="334155"/>
                </a:solidFill>
              </a:rPr>
              <a:t> Component lifecycle architecture, Virtual DOM optimization patterns, and production bundling guidelines.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Tailwind CSS Design Framework:</a:t>
            </a:r>
            <a:r>
              <a:rPr sz="950">
                <a:solidFill>
                  <a:srgbClr val="334155"/>
                </a:solidFill>
              </a:rPr>
              <a:t> Utility-first responsive design principles, color theory, and subtle glassmorphic styling techniques.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Human Resources Capstone Project Specifications:</a:t>
            </a:r>
            <a:r>
              <a:rPr sz="950">
                <a:solidFill>
                  <a:srgbClr val="334155"/>
                </a:solidFill>
              </a:rPr>
              <a:t> Capstone curriculum guidelines covering workforce metrics, leave tracking, and organizational tree hierarchies.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Project Source Code Repository:</a:t>
            </a:r>
            <a:r>
              <a:rPr sz="950">
                <a:solidFill>
                  <a:srgbClr val="334155"/>
                </a:solidFill>
              </a:rPr>
              <a:t> Public GitHub Repository maintaining full commit history, documentation, and source code: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• Repository Link:</a:t>
            </a:r>
            <a:r>
              <a:rPr sz="950">
                <a:solidFill>
                  <a:srgbClr val="334155"/>
                </a:solidFill>
              </a:rPr>
              <a:t> https://github.com/Shron03/HR-Hub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